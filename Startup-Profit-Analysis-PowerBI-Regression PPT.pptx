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FF9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 u="heavy">
                <a:solidFill>
                  <a:srgbClr val="FF9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FF9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500" b="1" i="0" u="heavy">
                <a:solidFill>
                  <a:srgbClr val="FF9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FF9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FF9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763978"/>
            <a:ext cx="13967460" cy="11727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FF9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510492"/>
            <a:ext cx="15717519" cy="5060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 u="heavy">
                <a:solidFill>
                  <a:srgbClr val="FF9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38981" y="1576778"/>
            <a:ext cx="9810115" cy="76200"/>
          </a:xfrm>
          <a:custGeom>
            <a:avLst/>
            <a:gdLst/>
            <a:ahLst/>
            <a:cxnLst/>
            <a:rect l="l" t="t" r="r" b="b"/>
            <a:pathLst>
              <a:path w="9810115" h="76200">
                <a:moveTo>
                  <a:pt x="9810005" y="76199"/>
                </a:moveTo>
                <a:lnTo>
                  <a:pt x="0" y="76199"/>
                </a:lnTo>
                <a:lnTo>
                  <a:pt x="0" y="0"/>
                </a:lnTo>
                <a:lnTo>
                  <a:pt x="9810005" y="0"/>
                </a:lnTo>
                <a:lnTo>
                  <a:pt x="9810005" y="76199"/>
                </a:lnTo>
                <a:close/>
              </a:path>
            </a:pathLst>
          </a:custGeom>
          <a:solidFill>
            <a:srgbClr val="FF9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22625">
              <a:lnSpc>
                <a:spcPct val="100000"/>
              </a:lnSpc>
              <a:spcBef>
                <a:spcPts val="100"/>
              </a:spcBef>
            </a:pPr>
            <a:r>
              <a:rPr dirty="0" spc="-290"/>
              <a:t>STARTUP</a:t>
            </a:r>
            <a:r>
              <a:rPr dirty="0" spc="-445"/>
              <a:t> </a:t>
            </a:r>
            <a:r>
              <a:rPr dirty="0" spc="-335"/>
              <a:t>PROFIT</a:t>
            </a:r>
            <a:r>
              <a:rPr dirty="0" spc="-665"/>
              <a:t> </a:t>
            </a:r>
            <a:r>
              <a:rPr dirty="0" spc="-335"/>
              <a:t>ANA</a:t>
            </a:r>
            <a:r>
              <a:rPr dirty="0" spc="-969"/>
              <a:t>L</a:t>
            </a:r>
            <a:r>
              <a:rPr dirty="0" spc="-505"/>
              <a:t>Y</a:t>
            </a:r>
            <a:r>
              <a:rPr dirty="0" spc="-335"/>
              <a:t>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82309" y="1936798"/>
            <a:ext cx="672338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000" spc="-135" i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rebuchet MS"/>
                <a:cs typeface="Trebuchet MS"/>
              </a:rPr>
              <a:t>Power</a:t>
            </a:r>
            <a:r>
              <a:rPr dirty="0" u="heavy" sz="3000" spc="-225" i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000" i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rebuchet MS"/>
                <a:cs typeface="Trebuchet MS"/>
              </a:rPr>
              <a:t>BI</a:t>
            </a:r>
            <a:r>
              <a:rPr dirty="0" u="heavy" sz="3000" spc="-155" i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000" spc="-65" i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rebuchet MS"/>
                <a:cs typeface="Trebuchet MS"/>
              </a:rPr>
              <a:t>Dashboard</a:t>
            </a:r>
            <a:r>
              <a:rPr dirty="0" u="heavy" sz="3000" spc="-155" i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rebuchet MS"/>
                <a:cs typeface="Trebuchet MS"/>
              </a:rPr>
              <a:t> &amp;</a:t>
            </a:r>
            <a:r>
              <a:rPr dirty="0" u="heavy" sz="3000" spc="-160" i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000" spc="-125" i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rebuchet MS"/>
                <a:cs typeface="Trebuchet MS"/>
              </a:rPr>
              <a:t>Regression</a:t>
            </a:r>
            <a:r>
              <a:rPr dirty="0" u="heavy" sz="3000" spc="-245" i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000" spc="-80" i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rebuchet MS"/>
                <a:cs typeface="Trebuchet MS"/>
              </a:rPr>
              <a:t>Anal</a:t>
            </a:r>
            <a:r>
              <a:rPr dirty="0" sz="3000" spc="-640" i="1">
                <a:solidFill>
                  <a:srgbClr val="FF904D"/>
                </a:solidFill>
                <a:latin typeface="Trebuchet MS"/>
                <a:cs typeface="Trebuchet MS"/>
              </a:rPr>
              <a:t>y</a:t>
            </a:r>
            <a:r>
              <a:rPr dirty="0" u="heavy" sz="3000" spc="-210" i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000" spc="-35" i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rebuchet MS"/>
                <a:cs typeface="Trebuchet MS"/>
              </a:rPr>
              <a:t>sis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1473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u="none" sz="4000" spc="-335"/>
              <a:t>Name:</a:t>
            </a:r>
            <a:r>
              <a:rPr dirty="0" u="none" sz="4000" spc="890"/>
              <a:t> </a:t>
            </a:r>
            <a:r>
              <a:rPr dirty="0" u="none" sz="4000" spc="-10" b="0">
                <a:latin typeface="Tahoma"/>
                <a:cs typeface="Tahoma"/>
              </a:rPr>
              <a:t>Piyush</a:t>
            </a:r>
            <a:endParaRPr sz="4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u="none" sz="4000" spc="-260"/>
              <a:t>Batch</a:t>
            </a:r>
            <a:r>
              <a:rPr dirty="0" u="none" sz="4000" spc="-180"/>
              <a:t> </a:t>
            </a:r>
            <a:r>
              <a:rPr dirty="0" u="none" sz="4000" spc="-395"/>
              <a:t>ID:</a:t>
            </a:r>
            <a:r>
              <a:rPr dirty="0" u="none" sz="4000" spc="940"/>
              <a:t> </a:t>
            </a:r>
            <a:r>
              <a:rPr dirty="0" u="none" sz="4000" spc="90" b="0">
                <a:latin typeface="Tahoma"/>
                <a:cs typeface="Tahoma"/>
              </a:rPr>
              <a:t>23-</a:t>
            </a:r>
            <a:r>
              <a:rPr dirty="0" u="none" sz="4000" spc="105" b="0">
                <a:latin typeface="Tahoma"/>
                <a:cs typeface="Tahoma"/>
              </a:rPr>
              <a:t>FEB-</a:t>
            </a:r>
            <a:r>
              <a:rPr dirty="0" u="none" sz="4000" spc="90" b="0">
                <a:latin typeface="Tahoma"/>
                <a:cs typeface="Tahoma"/>
              </a:rPr>
              <a:t>26-</a:t>
            </a:r>
            <a:r>
              <a:rPr dirty="0" u="none" sz="4000" spc="200" b="0">
                <a:latin typeface="Tahoma"/>
                <a:cs typeface="Tahoma"/>
              </a:rPr>
              <a:t>CDA-</a:t>
            </a:r>
            <a:r>
              <a:rPr dirty="0" u="none" sz="4000" spc="225" b="0">
                <a:latin typeface="Tahoma"/>
                <a:cs typeface="Tahoma"/>
              </a:rPr>
              <a:t>BUN-</a:t>
            </a:r>
            <a:r>
              <a:rPr dirty="0" u="none" sz="4000" spc="80" b="0">
                <a:latin typeface="Tahoma"/>
                <a:cs typeface="Tahoma"/>
              </a:rPr>
              <a:t>040-</a:t>
            </a:r>
            <a:r>
              <a:rPr dirty="0" u="none" sz="4000" spc="245" b="0">
                <a:latin typeface="Tahoma"/>
                <a:cs typeface="Tahoma"/>
              </a:rPr>
              <a:t>WDM0900-</a:t>
            </a:r>
            <a:r>
              <a:rPr dirty="0" u="none" sz="4000" spc="210" b="0">
                <a:latin typeface="Tahoma"/>
                <a:cs typeface="Tahoma"/>
              </a:rPr>
              <a:t>BAN-</a:t>
            </a:r>
            <a:r>
              <a:rPr dirty="0" u="none" sz="4000" spc="270" b="0">
                <a:latin typeface="Tahoma"/>
                <a:cs typeface="Tahoma"/>
              </a:rPr>
              <a:t>MAR</a:t>
            </a:r>
            <a:endParaRPr sz="4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u="none" sz="4000" spc="-800"/>
              <a:t>T</a:t>
            </a:r>
            <a:r>
              <a:rPr dirty="0" u="none" sz="4000" spc="-310"/>
              <a:t>ea</a:t>
            </a:r>
            <a:r>
              <a:rPr dirty="0" u="none" sz="4000" spc="-300"/>
              <a:t>m</a:t>
            </a:r>
            <a:r>
              <a:rPr dirty="0" u="none" sz="4000" spc="-130"/>
              <a:t> </a:t>
            </a:r>
            <a:r>
              <a:rPr dirty="0" u="none" sz="4000" spc="-395"/>
              <a:t>ID:</a:t>
            </a:r>
            <a:r>
              <a:rPr dirty="0" u="none" sz="4000" spc="-70"/>
              <a:t>  </a:t>
            </a:r>
            <a:r>
              <a:rPr dirty="0" u="none" sz="4000" b="0">
                <a:latin typeface="Tahoma"/>
                <a:cs typeface="Tahoma"/>
              </a:rPr>
              <a:t>PTID-</a:t>
            </a:r>
            <a:r>
              <a:rPr dirty="0" u="none" sz="4000" spc="145" b="0">
                <a:latin typeface="Tahoma"/>
                <a:cs typeface="Tahoma"/>
              </a:rPr>
              <a:t>CDA-</a:t>
            </a:r>
            <a:r>
              <a:rPr dirty="0" u="none" sz="4000" spc="175" b="0">
                <a:latin typeface="Tahoma"/>
                <a:cs typeface="Tahoma"/>
              </a:rPr>
              <a:t>JUN-</a:t>
            </a:r>
            <a:r>
              <a:rPr dirty="0" u="none" sz="4000" spc="90" b="0">
                <a:latin typeface="Tahoma"/>
                <a:cs typeface="Tahoma"/>
              </a:rPr>
              <a:t>26-</a:t>
            </a:r>
            <a:r>
              <a:rPr dirty="0" u="none" sz="4000" spc="114" b="0">
                <a:latin typeface="Tahoma"/>
                <a:cs typeface="Tahoma"/>
              </a:rPr>
              <a:t>11165</a:t>
            </a:r>
            <a:endParaRPr sz="4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u="none" sz="4000" spc="-270"/>
              <a:t>Course:</a:t>
            </a:r>
            <a:r>
              <a:rPr dirty="0" u="none" sz="4000" spc="875"/>
              <a:t> </a:t>
            </a:r>
            <a:r>
              <a:rPr dirty="0" u="none" sz="4000" spc="235" b="0">
                <a:latin typeface="Tahoma"/>
                <a:cs typeface="Tahoma"/>
              </a:rPr>
              <a:t>CDA</a:t>
            </a:r>
            <a:endParaRPr sz="4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u="none" sz="4000" spc="-260"/>
              <a:t>Project</a:t>
            </a:r>
            <a:r>
              <a:rPr dirty="0" u="none" sz="4000" spc="-190"/>
              <a:t> </a:t>
            </a:r>
            <a:r>
              <a:rPr dirty="0" u="none" sz="4000" spc="-395"/>
              <a:t>ID:</a:t>
            </a:r>
            <a:r>
              <a:rPr dirty="0" u="none" sz="4000" spc="910"/>
              <a:t> </a:t>
            </a:r>
            <a:r>
              <a:rPr dirty="0" u="none" sz="4000" spc="145" b="0">
                <a:latin typeface="Tahoma"/>
                <a:cs typeface="Tahoma"/>
              </a:rPr>
              <a:t>PRDA-</a:t>
            </a:r>
            <a:r>
              <a:rPr dirty="0" u="none" sz="4000" spc="100" b="0">
                <a:latin typeface="Tahoma"/>
                <a:cs typeface="Tahoma"/>
              </a:rPr>
              <a:t>01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1809750"/>
            <a:ext cx="10354945" cy="76200"/>
          </a:xfrm>
          <a:custGeom>
            <a:avLst/>
            <a:gdLst/>
            <a:ahLst/>
            <a:cxnLst/>
            <a:rect l="l" t="t" r="r" b="b"/>
            <a:pathLst>
              <a:path w="10354945" h="76200">
                <a:moveTo>
                  <a:pt x="10354864" y="76199"/>
                </a:moveTo>
                <a:lnTo>
                  <a:pt x="0" y="76199"/>
                </a:lnTo>
                <a:lnTo>
                  <a:pt x="0" y="0"/>
                </a:lnTo>
                <a:lnTo>
                  <a:pt x="10354864" y="0"/>
                </a:lnTo>
                <a:lnTo>
                  <a:pt x="10354864" y="76199"/>
                </a:lnTo>
                <a:close/>
              </a:path>
            </a:pathLst>
          </a:custGeom>
          <a:solidFill>
            <a:srgbClr val="FF9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567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PROBLEM</a:t>
            </a:r>
            <a:r>
              <a:rPr dirty="0" spc="-245"/>
              <a:t> </a:t>
            </a:r>
            <a:r>
              <a:rPr dirty="0" spc="-215"/>
              <a:t>UNDERSTANDING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6116" y="5085681"/>
            <a:ext cx="164041" cy="1640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6116" y="5794765"/>
            <a:ext cx="164041" cy="1640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6116" y="6503848"/>
            <a:ext cx="164041" cy="1640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6116" y="7212932"/>
            <a:ext cx="164041" cy="16404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OBJECTIVE:</a:t>
            </a:r>
          </a:p>
          <a:p>
            <a:pPr>
              <a:lnSpc>
                <a:spcPct val="100000"/>
              </a:lnSpc>
              <a:spcBef>
                <a:spcPts val="1010"/>
              </a:spcBef>
            </a:pPr>
          </a:p>
          <a:p>
            <a:pPr marL="12700">
              <a:lnSpc>
                <a:spcPct val="100000"/>
              </a:lnSpc>
            </a:pPr>
            <a:r>
              <a:rPr dirty="0" u="none" sz="4000" spc="-235"/>
              <a:t>The</a:t>
            </a:r>
            <a:r>
              <a:rPr dirty="0" u="none" sz="4000" spc="-190"/>
              <a:t> </a:t>
            </a:r>
            <a:r>
              <a:rPr dirty="0" u="none" sz="4000" spc="-305"/>
              <a:t>analysis</a:t>
            </a:r>
            <a:r>
              <a:rPr dirty="0" u="none" sz="4000" spc="-185"/>
              <a:t> </a:t>
            </a:r>
            <a:r>
              <a:rPr dirty="0" u="none" sz="4000" spc="-355"/>
              <a:t>aims</a:t>
            </a:r>
            <a:r>
              <a:rPr dirty="0" u="none" sz="4000" spc="-185"/>
              <a:t> </a:t>
            </a:r>
            <a:r>
              <a:rPr dirty="0" u="none" sz="4000" spc="-210"/>
              <a:t>to</a:t>
            </a:r>
            <a:r>
              <a:rPr dirty="0" u="none" sz="4000" spc="-190"/>
              <a:t> </a:t>
            </a:r>
            <a:r>
              <a:rPr dirty="0" u="none" sz="4000" spc="-350"/>
              <a:t>answer:</a:t>
            </a:r>
            <a:endParaRPr sz="4000"/>
          </a:p>
          <a:p>
            <a:pPr marL="875665" marR="3493770">
              <a:lnSpc>
                <a:spcPct val="116300"/>
              </a:lnSpc>
              <a:spcBef>
                <a:spcPts val="670"/>
              </a:spcBef>
            </a:pPr>
            <a:r>
              <a:rPr dirty="0" u="none" sz="4000" spc="-204"/>
              <a:t>Which</a:t>
            </a:r>
            <a:r>
              <a:rPr dirty="0" u="none" sz="4000" spc="-180"/>
              <a:t> </a:t>
            </a:r>
            <a:r>
              <a:rPr dirty="0" u="none" sz="4000" spc="-295"/>
              <a:t>spending</a:t>
            </a:r>
            <a:r>
              <a:rPr dirty="0" u="none" sz="4000" spc="-180"/>
              <a:t> </a:t>
            </a:r>
            <a:r>
              <a:rPr dirty="0" u="none" sz="4000" spc="-275"/>
              <a:t>category</a:t>
            </a:r>
            <a:r>
              <a:rPr dirty="0" u="none" sz="4000" spc="-280"/>
              <a:t> </a:t>
            </a:r>
            <a:r>
              <a:rPr dirty="0" u="none" sz="4000" spc="-295"/>
              <a:t>impacts</a:t>
            </a:r>
            <a:r>
              <a:rPr dirty="0" u="none" sz="4000" spc="-180"/>
              <a:t> </a:t>
            </a:r>
            <a:r>
              <a:rPr dirty="0" u="none" sz="4000" spc="-229"/>
              <a:t>profit</a:t>
            </a:r>
            <a:r>
              <a:rPr dirty="0" u="none" sz="4000" spc="-175"/>
              <a:t> </a:t>
            </a:r>
            <a:r>
              <a:rPr dirty="0" u="none" sz="4000" spc="-254"/>
              <a:t>the</a:t>
            </a:r>
            <a:r>
              <a:rPr dirty="0" u="none" sz="4000" spc="-180"/>
              <a:t> </a:t>
            </a:r>
            <a:r>
              <a:rPr dirty="0" u="none" sz="4000" spc="-340"/>
              <a:t>most? </a:t>
            </a:r>
            <a:r>
              <a:rPr dirty="0" u="none" sz="4000" spc="-204"/>
              <a:t>Which</a:t>
            </a:r>
            <a:r>
              <a:rPr dirty="0" u="none" sz="4000" spc="-185"/>
              <a:t> </a:t>
            </a:r>
            <a:r>
              <a:rPr dirty="0" u="none" sz="4000" spc="-280"/>
              <a:t>state</a:t>
            </a:r>
            <a:r>
              <a:rPr dirty="0" u="none" sz="4000" spc="-185"/>
              <a:t> </a:t>
            </a:r>
            <a:r>
              <a:rPr dirty="0" u="none" sz="4000" spc="-310"/>
              <a:t>generates</a:t>
            </a:r>
            <a:r>
              <a:rPr dirty="0" u="none" sz="4000" spc="-180"/>
              <a:t> </a:t>
            </a:r>
            <a:r>
              <a:rPr dirty="0" u="none" sz="4000" spc="-254"/>
              <a:t>the</a:t>
            </a:r>
            <a:r>
              <a:rPr dirty="0" u="none" sz="4000" spc="-185"/>
              <a:t> </a:t>
            </a:r>
            <a:r>
              <a:rPr dirty="0" u="none" sz="4000" spc="-290"/>
              <a:t>highest</a:t>
            </a:r>
            <a:r>
              <a:rPr dirty="0" u="none" sz="4000" spc="-180"/>
              <a:t> </a:t>
            </a:r>
            <a:r>
              <a:rPr dirty="0" u="none" sz="4000" spc="-265"/>
              <a:t>profit?</a:t>
            </a:r>
            <a:endParaRPr sz="4000"/>
          </a:p>
          <a:p>
            <a:pPr marL="875665">
              <a:lnSpc>
                <a:spcPct val="100000"/>
              </a:lnSpc>
              <a:spcBef>
                <a:spcPts val="780"/>
              </a:spcBef>
            </a:pPr>
            <a:r>
              <a:rPr dirty="0" u="none" sz="4000" spc="-254"/>
              <a:t>Can</a:t>
            </a:r>
            <a:r>
              <a:rPr dirty="0" u="none" sz="4000" spc="-180"/>
              <a:t> </a:t>
            </a:r>
            <a:r>
              <a:rPr dirty="0" u="none" sz="4000" spc="-229"/>
              <a:t>profit</a:t>
            </a:r>
            <a:r>
              <a:rPr dirty="0" u="none" sz="4000" spc="-175"/>
              <a:t> </a:t>
            </a:r>
            <a:r>
              <a:rPr dirty="0" u="none" sz="4000" spc="-275"/>
              <a:t>be</a:t>
            </a:r>
            <a:r>
              <a:rPr dirty="0" u="none" sz="4000" spc="-175"/>
              <a:t> </a:t>
            </a:r>
            <a:r>
              <a:rPr dirty="0" u="none" sz="4000" spc="-254"/>
              <a:t>predicted</a:t>
            </a:r>
            <a:r>
              <a:rPr dirty="0" u="none" sz="4000" spc="-175"/>
              <a:t> </a:t>
            </a:r>
            <a:r>
              <a:rPr dirty="0" u="none" sz="4000" spc="-315"/>
              <a:t>using</a:t>
            </a:r>
            <a:r>
              <a:rPr dirty="0" u="none" sz="4000" spc="-175"/>
              <a:t> </a:t>
            </a:r>
            <a:r>
              <a:rPr dirty="0" u="none" sz="4000" spc="-280"/>
              <a:t>Linear</a:t>
            </a:r>
            <a:r>
              <a:rPr dirty="0" u="none" sz="4000" spc="-260"/>
              <a:t> </a:t>
            </a:r>
            <a:r>
              <a:rPr dirty="0" u="none" sz="4000" spc="-340"/>
              <a:t>Regression?</a:t>
            </a:r>
            <a:endParaRPr sz="4000"/>
          </a:p>
          <a:p>
            <a:pPr marL="875665">
              <a:lnSpc>
                <a:spcPct val="100000"/>
              </a:lnSpc>
              <a:spcBef>
                <a:spcPts val="785"/>
              </a:spcBef>
            </a:pPr>
            <a:r>
              <a:rPr dirty="0" u="none" sz="4000" spc="-225"/>
              <a:t>What</a:t>
            </a:r>
            <a:r>
              <a:rPr dirty="0" u="none" sz="4000" spc="-185"/>
              <a:t> </a:t>
            </a:r>
            <a:r>
              <a:rPr dirty="0" u="none" sz="4000" spc="-290"/>
              <a:t>insights</a:t>
            </a:r>
            <a:r>
              <a:rPr dirty="0" u="none" sz="4000" spc="-185"/>
              <a:t> </a:t>
            </a:r>
            <a:r>
              <a:rPr dirty="0" u="none" sz="4000" spc="-300"/>
              <a:t>can</a:t>
            </a:r>
            <a:r>
              <a:rPr dirty="0" u="none" sz="4000" spc="-185"/>
              <a:t> </a:t>
            </a:r>
            <a:r>
              <a:rPr dirty="0" u="none" sz="4000" spc="-270"/>
              <a:t>help</a:t>
            </a:r>
            <a:r>
              <a:rPr dirty="0" u="none" sz="4000" spc="-185"/>
              <a:t> </a:t>
            </a:r>
            <a:r>
              <a:rPr dirty="0" u="none" sz="4000" spc="-280"/>
              <a:t>startups</a:t>
            </a:r>
            <a:r>
              <a:rPr dirty="0" u="none" sz="4000" spc="-180"/>
              <a:t> </a:t>
            </a:r>
            <a:r>
              <a:rPr dirty="0" u="none" sz="4000" spc="-270"/>
              <a:t>allocate</a:t>
            </a:r>
            <a:r>
              <a:rPr dirty="0" u="none" sz="4000" spc="-185"/>
              <a:t> </a:t>
            </a:r>
            <a:r>
              <a:rPr dirty="0" u="none" sz="4000" spc="-300"/>
              <a:t>budgets</a:t>
            </a:r>
            <a:r>
              <a:rPr dirty="0" u="none" sz="4000" spc="-185"/>
              <a:t> </a:t>
            </a:r>
            <a:r>
              <a:rPr dirty="0" u="none" sz="4000" spc="-325"/>
              <a:t>more</a:t>
            </a:r>
            <a:r>
              <a:rPr dirty="0" u="none" sz="4000" spc="-185"/>
              <a:t> </a:t>
            </a:r>
            <a:r>
              <a:rPr dirty="0" u="none" sz="4000" spc="-165"/>
              <a:t>efficiently?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272784"/>
            <a:ext cx="12182474" cy="68865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28700" y="1809750"/>
            <a:ext cx="4992370" cy="76200"/>
          </a:xfrm>
          <a:custGeom>
            <a:avLst/>
            <a:gdLst/>
            <a:ahLst/>
            <a:cxnLst/>
            <a:rect l="l" t="t" r="r" b="b"/>
            <a:pathLst>
              <a:path w="4992370" h="76200">
                <a:moveTo>
                  <a:pt x="4992290" y="76199"/>
                </a:moveTo>
                <a:lnTo>
                  <a:pt x="0" y="76199"/>
                </a:lnTo>
                <a:lnTo>
                  <a:pt x="0" y="0"/>
                </a:lnTo>
                <a:lnTo>
                  <a:pt x="4992290" y="0"/>
                </a:lnTo>
                <a:lnTo>
                  <a:pt x="4992290" y="76199"/>
                </a:lnTo>
                <a:close/>
              </a:path>
            </a:pathLst>
          </a:custGeom>
          <a:solidFill>
            <a:srgbClr val="FF9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567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DASHBOARD: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11911" y="9232962"/>
            <a:ext cx="341502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40" b="1" i="1">
                <a:solidFill>
                  <a:srgbClr val="FF904D"/>
                </a:solidFill>
                <a:latin typeface="Trebuchet MS"/>
                <a:cs typeface="Trebuchet MS"/>
              </a:rPr>
              <a:t>Interactive</a:t>
            </a:r>
            <a:r>
              <a:rPr dirty="0" sz="2000" spc="-114" b="1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125" b="1" i="1">
                <a:solidFill>
                  <a:srgbClr val="FF904D"/>
                </a:solidFill>
                <a:latin typeface="Trebuchet MS"/>
                <a:cs typeface="Trebuchet MS"/>
              </a:rPr>
              <a:t>Power</a:t>
            </a:r>
            <a:r>
              <a:rPr dirty="0" sz="2000" spc="-160" b="1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b="1" i="1">
                <a:solidFill>
                  <a:srgbClr val="FF904D"/>
                </a:solidFill>
                <a:latin typeface="Trebuchet MS"/>
                <a:cs typeface="Trebuchet MS"/>
              </a:rPr>
              <a:t>BI</a:t>
            </a:r>
            <a:r>
              <a:rPr dirty="0" sz="2000" spc="-114" b="1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75" b="1" i="1">
                <a:solidFill>
                  <a:srgbClr val="FF904D"/>
                </a:solidFill>
                <a:latin typeface="Trebuchet MS"/>
                <a:cs typeface="Trebuchet MS"/>
              </a:rPr>
              <a:t>Dashboard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0317" y="4098017"/>
            <a:ext cx="85725" cy="857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629343" y="3907504"/>
            <a:ext cx="4544695" cy="3121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3025">
              <a:lnSpc>
                <a:spcPct val="115599"/>
              </a:lnSpc>
              <a:spcBef>
                <a:spcPts val="100"/>
              </a:spcBef>
            </a:pPr>
            <a:r>
              <a:rPr dirty="0" sz="2000" spc="-170" b="1">
                <a:solidFill>
                  <a:srgbClr val="FF904D"/>
                </a:solidFill>
                <a:latin typeface="Tahoma"/>
                <a:cs typeface="Tahoma"/>
              </a:rPr>
              <a:t>KPI</a:t>
            </a:r>
            <a:r>
              <a:rPr dirty="0" sz="2000" spc="-6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45" b="1">
                <a:solidFill>
                  <a:srgbClr val="FF904D"/>
                </a:solidFill>
                <a:latin typeface="Tahoma"/>
                <a:cs typeface="Tahoma"/>
              </a:rPr>
              <a:t>Cards</a:t>
            </a:r>
            <a:r>
              <a:rPr dirty="0" sz="2000" spc="-6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50" b="1">
                <a:solidFill>
                  <a:srgbClr val="FF904D"/>
                </a:solidFill>
                <a:latin typeface="Tahoma"/>
                <a:cs typeface="Tahoma"/>
              </a:rPr>
              <a:t>display</a:t>
            </a:r>
            <a:r>
              <a:rPr dirty="0" sz="2000" spc="-12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30" b="1">
                <a:solidFill>
                  <a:srgbClr val="FF904D"/>
                </a:solidFill>
                <a:latin typeface="Tahoma"/>
                <a:cs typeface="Tahoma"/>
              </a:rPr>
              <a:t>total</a:t>
            </a:r>
            <a:r>
              <a:rPr dirty="0" sz="2000" spc="-6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50" b="1">
                <a:solidFill>
                  <a:srgbClr val="FF904D"/>
                </a:solidFill>
                <a:latin typeface="Tahoma"/>
                <a:cs typeface="Tahoma"/>
              </a:rPr>
              <a:t>investments</a:t>
            </a:r>
            <a:r>
              <a:rPr dirty="0" sz="2000" spc="-60" b="1">
                <a:solidFill>
                  <a:srgbClr val="FF904D"/>
                </a:solidFill>
                <a:latin typeface="Tahoma"/>
                <a:cs typeface="Tahoma"/>
              </a:rPr>
              <a:t> and </a:t>
            </a:r>
            <a:r>
              <a:rPr dirty="0" sz="2000" spc="-10" b="1">
                <a:solidFill>
                  <a:srgbClr val="FF904D"/>
                </a:solidFill>
                <a:latin typeface="Tahoma"/>
                <a:cs typeface="Tahoma"/>
              </a:rPr>
              <a:t>profit.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5599"/>
              </a:lnSpc>
              <a:spcBef>
                <a:spcPts val="1650"/>
              </a:spcBef>
            </a:pPr>
            <a:r>
              <a:rPr dirty="0" sz="2000" spc="-140" b="1">
                <a:solidFill>
                  <a:srgbClr val="FF904D"/>
                </a:solidFill>
                <a:latin typeface="Tahoma"/>
                <a:cs typeface="Tahoma"/>
              </a:rPr>
              <a:t>Scatter</a:t>
            </a:r>
            <a:r>
              <a:rPr dirty="0" sz="2000" spc="-11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25" b="1">
                <a:solidFill>
                  <a:srgbClr val="FF904D"/>
                </a:solidFill>
                <a:latin typeface="Tahoma"/>
                <a:cs typeface="Tahoma"/>
              </a:rPr>
              <a:t>plots</a:t>
            </a:r>
            <a:r>
              <a:rPr dirty="0" sz="2000" spc="-6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60" b="1">
                <a:solidFill>
                  <a:srgbClr val="FF904D"/>
                </a:solidFill>
                <a:latin typeface="Tahoma"/>
                <a:cs typeface="Tahoma"/>
              </a:rPr>
              <a:t>show</a:t>
            </a:r>
            <a:r>
              <a:rPr dirty="0" sz="2000" spc="-10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40" b="1">
                <a:solidFill>
                  <a:srgbClr val="FF904D"/>
                </a:solidFill>
                <a:latin typeface="Tahoma"/>
                <a:cs typeface="Tahoma"/>
              </a:rPr>
              <a:t>relationship</a:t>
            </a:r>
            <a:r>
              <a:rPr dirty="0" sz="2000" spc="-6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0" b="1">
                <a:solidFill>
                  <a:srgbClr val="FF904D"/>
                </a:solidFill>
                <a:latin typeface="Tahoma"/>
                <a:cs typeface="Tahoma"/>
              </a:rPr>
              <a:t>between </a:t>
            </a:r>
            <a:r>
              <a:rPr dirty="0" sz="2000" spc="-155" b="1">
                <a:solidFill>
                  <a:srgbClr val="FF904D"/>
                </a:solidFill>
                <a:latin typeface="Tahoma"/>
                <a:cs typeface="Tahoma"/>
              </a:rPr>
              <a:t>expenses</a:t>
            </a:r>
            <a:r>
              <a:rPr dirty="0" sz="2000" spc="-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70" b="1">
                <a:solidFill>
                  <a:srgbClr val="FF904D"/>
                </a:solidFill>
                <a:latin typeface="Tahoma"/>
                <a:cs typeface="Tahoma"/>
              </a:rPr>
              <a:t>and</a:t>
            </a:r>
            <a:r>
              <a:rPr dirty="0" sz="2000" spc="-8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904D"/>
                </a:solidFill>
                <a:latin typeface="Tahoma"/>
                <a:cs typeface="Tahoma"/>
              </a:rPr>
              <a:t>profit.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25"/>
              </a:spcBef>
            </a:pPr>
            <a:r>
              <a:rPr dirty="0" sz="2000" spc="-155" b="1">
                <a:solidFill>
                  <a:srgbClr val="FF904D"/>
                </a:solidFill>
                <a:latin typeface="Tahoma"/>
                <a:cs typeface="Tahoma"/>
              </a:rPr>
              <a:t>State</a:t>
            </a:r>
            <a:r>
              <a:rPr dirty="0" sz="2000" spc="-8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30" b="1">
                <a:solidFill>
                  <a:srgbClr val="FF904D"/>
                </a:solidFill>
                <a:latin typeface="Tahoma"/>
                <a:cs typeface="Tahoma"/>
              </a:rPr>
              <a:t>slicer</a:t>
            </a:r>
            <a:r>
              <a:rPr dirty="0" sz="2000" spc="-114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50" b="1">
                <a:solidFill>
                  <a:srgbClr val="FF904D"/>
                </a:solidFill>
                <a:latin typeface="Tahoma"/>
                <a:cs typeface="Tahoma"/>
              </a:rPr>
              <a:t>enables</a:t>
            </a:r>
            <a:r>
              <a:rPr dirty="0" sz="2000" spc="-7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30" b="1">
                <a:solidFill>
                  <a:srgbClr val="FF904D"/>
                </a:solidFill>
                <a:latin typeface="Tahoma"/>
                <a:cs typeface="Tahoma"/>
              </a:rPr>
              <a:t>interactive</a:t>
            </a:r>
            <a:r>
              <a:rPr dirty="0" sz="2000" spc="-7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904D"/>
                </a:solidFill>
                <a:latin typeface="Tahoma"/>
                <a:cs typeface="Tahoma"/>
              </a:rPr>
              <a:t>filtering.</a:t>
            </a:r>
            <a:endParaRPr sz="2000">
              <a:latin typeface="Tahoma"/>
              <a:cs typeface="Tahoma"/>
            </a:endParaRPr>
          </a:p>
          <a:p>
            <a:pPr marL="12700" marR="972185">
              <a:lnSpc>
                <a:spcPct val="115599"/>
              </a:lnSpc>
              <a:spcBef>
                <a:spcPts val="1650"/>
              </a:spcBef>
            </a:pPr>
            <a:r>
              <a:rPr dirty="0" sz="2000" spc="-165" b="1">
                <a:solidFill>
                  <a:srgbClr val="FF904D"/>
                </a:solidFill>
                <a:latin typeface="Tahoma"/>
                <a:cs typeface="Tahoma"/>
              </a:rPr>
              <a:t>Trend</a:t>
            </a:r>
            <a:r>
              <a:rPr dirty="0" sz="2000" spc="-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40" b="1">
                <a:solidFill>
                  <a:srgbClr val="FF904D"/>
                </a:solidFill>
                <a:latin typeface="Tahoma"/>
                <a:cs typeface="Tahoma"/>
              </a:rPr>
              <a:t>lines</a:t>
            </a:r>
            <a:r>
              <a:rPr dirty="0" sz="2000" spc="-8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50" b="1">
                <a:solidFill>
                  <a:srgbClr val="FF904D"/>
                </a:solidFill>
                <a:latin typeface="Tahoma"/>
                <a:cs typeface="Tahoma"/>
              </a:rPr>
              <a:t>highlight</a:t>
            </a:r>
            <a:r>
              <a:rPr dirty="0" sz="2000" spc="-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10" b="1">
                <a:solidFill>
                  <a:srgbClr val="FF904D"/>
                </a:solidFill>
                <a:latin typeface="Tahoma"/>
                <a:cs typeface="Tahoma"/>
              </a:rPr>
              <a:t>correlation </a:t>
            </a:r>
            <a:r>
              <a:rPr dirty="0" sz="2000" spc="-150" b="1">
                <a:solidFill>
                  <a:srgbClr val="FF904D"/>
                </a:solidFill>
                <a:latin typeface="Tahoma"/>
                <a:cs typeface="Tahoma"/>
              </a:rPr>
              <a:t>between</a:t>
            </a:r>
            <a:r>
              <a:rPr dirty="0" sz="2000" spc="-10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45" b="1">
                <a:solidFill>
                  <a:srgbClr val="FF904D"/>
                </a:solidFill>
                <a:latin typeface="Tahoma"/>
                <a:cs typeface="Tahoma"/>
              </a:rPr>
              <a:t>variables.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0317" y="5012417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0317" y="5926817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0317" y="6488792"/>
            <a:ext cx="85725" cy="857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1809750"/>
            <a:ext cx="8648700" cy="76200"/>
          </a:xfrm>
          <a:custGeom>
            <a:avLst/>
            <a:gdLst/>
            <a:ahLst/>
            <a:cxnLst/>
            <a:rect l="l" t="t" r="r" b="b"/>
            <a:pathLst>
              <a:path w="8648700" h="76200">
                <a:moveTo>
                  <a:pt x="8648699" y="76199"/>
                </a:moveTo>
                <a:lnTo>
                  <a:pt x="0" y="76199"/>
                </a:lnTo>
                <a:lnTo>
                  <a:pt x="0" y="0"/>
                </a:lnTo>
                <a:lnTo>
                  <a:pt x="8648699" y="0"/>
                </a:lnTo>
                <a:lnTo>
                  <a:pt x="8648699" y="76199"/>
                </a:lnTo>
                <a:close/>
              </a:path>
            </a:pathLst>
          </a:custGeom>
          <a:solidFill>
            <a:srgbClr val="FF9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567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DASHBOARD</a:t>
            </a:r>
            <a:r>
              <a:rPr dirty="0" spc="-265"/>
              <a:t> </a:t>
            </a:r>
            <a:r>
              <a:rPr dirty="0" spc="-484"/>
              <a:t>INSIGHTS: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49" y="3373297"/>
            <a:ext cx="161925" cy="1619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79500" y="3090753"/>
            <a:ext cx="13978890" cy="486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210" b="1">
                <a:solidFill>
                  <a:srgbClr val="FF904D"/>
                </a:solidFill>
                <a:latin typeface="Tahoma"/>
                <a:cs typeface="Tahoma"/>
              </a:rPr>
              <a:t>R&amp;D</a:t>
            </a:r>
            <a:r>
              <a:rPr dirty="0" sz="4000" spc="-19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00" b="1">
                <a:solidFill>
                  <a:srgbClr val="FF904D"/>
                </a:solidFill>
                <a:latin typeface="Tahoma"/>
                <a:cs typeface="Tahoma"/>
              </a:rPr>
              <a:t>Spend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40" b="1">
                <a:solidFill>
                  <a:srgbClr val="FF904D"/>
                </a:solidFill>
                <a:latin typeface="Tahoma"/>
                <a:cs typeface="Tahoma"/>
              </a:rPr>
              <a:t>has</a:t>
            </a:r>
            <a:r>
              <a:rPr dirty="0" sz="4000" spc="-18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54" b="1">
                <a:solidFill>
                  <a:srgbClr val="FF904D"/>
                </a:solidFill>
                <a:latin typeface="Tahoma"/>
                <a:cs typeface="Tahoma"/>
              </a:rPr>
              <a:t>the</a:t>
            </a:r>
            <a:r>
              <a:rPr dirty="0" sz="4000" spc="-17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85" b="1">
                <a:solidFill>
                  <a:srgbClr val="FF904D"/>
                </a:solidFill>
                <a:latin typeface="Tahoma"/>
                <a:cs typeface="Tahoma"/>
              </a:rPr>
              <a:t>strongest</a:t>
            </a:r>
            <a:r>
              <a:rPr dirty="0" sz="4000" spc="-18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45" b="1">
                <a:solidFill>
                  <a:srgbClr val="FF904D"/>
                </a:solidFill>
                <a:latin typeface="Tahoma"/>
                <a:cs typeface="Tahoma"/>
              </a:rPr>
              <a:t>positive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70" b="1">
                <a:solidFill>
                  <a:srgbClr val="FF904D"/>
                </a:solidFill>
                <a:latin typeface="Tahoma"/>
                <a:cs typeface="Tahoma"/>
              </a:rPr>
              <a:t>relationship with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100" b="1">
                <a:solidFill>
                  <a:srgbClr val="FF904D"/>
                </a:solidFill>
                <a:latin typeface="Tahoma"/>
                <a:cs typeface="Tahoma"/>
              </a:rPr>
              <a:t>profit.</a:t>
            </a:r>
            <a:endParaRPr sz="4000">
              <a:latin typeface="Tahoma"/>
              <a:cs typeface="Tahoma"/>
            </a:endParaRPr>
          </a:p>
          <a:p>
            <a:pPr marL="12700" marR="5080">
              <a:lnSpc>
                <a:spcPct val="173400"/>
              </a:lnSpc>
            </a:pPr>
            <a:r>
              <a:rPr dirty="0" sz="4000" spc="-260" b="1">
                <a:solidFill>
                  <a:srgbClr val="FF904D"/>
                </a:solidFill>
                <a:latin typeface="Tahoma"/>
                <a:cs typeface="Tahoma"/>
              </a:rPr>
              <a:t>Marketing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00" b="1">
                <a:solidFill>
                  <a:srgbClr val="FF904D"/>
                </a:solidFill>
                <a:latin typeface="Tahoma"/>
                <a:cs typeface="Tahoma"/>
              </a:rPr>
              <a:t>Spend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40" b="1">
                <a:solidFill>
                  <a:srgbClr val="FF904D"/>
                </a:solidFill>
                <a:latin typeface="Tahoma"/>
                <a:cs typeface="Tahoma"/>
              </a:rPr>
              <a:t>has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85" b="1">
                <a:solidFill>
                  <a:srgbClr val="FF904D"/>
                </a:solidFill>
                <a:latin typeface="Tahoma"/>
                <a:cs typeface="Tahoma"/>
              </a:rPr>
              <a:t>a</a:t>
            </a:r>
            <a:r>
              <a:rPr dirty="0" sz="4000" spc="-18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00" b="1">
                <a:solidFill>
                  <a:srgbClr val="FF904D"/>
                </a:solidFill>
                <a:latin typeface="Tahoma"/>
                <a:cs typeface="Tahoma"/>
              </a:rPr>
              <a:t>moderate</a:t>
            </a:r>
            <a:r>
              <a:rPr dirty="0" sz="4000" spc="-19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45" b="1">
                <a:solidFill>
                  <a:srgbClr val="FF904D"/>
                </a:solidFill>
                <a:latin typeface="Tahoma"/>
                <a:cs typeface="Tahoma"/>
              </a:rPr>
              <a:t>positive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10" b="1">
                <a:solidFill>
                  <a:srgbClr val="FF904D"/>
                </a:solidFill>
                <a:latin typeface="Tahoma"/>
                <a:cs typeface="Tahoma"/>
              </a:rPr>
              <a:t>effect. </a:t>
            </a:r>
            <a:r>
              <a:rPr dirty="0" sz="4000" spc="-260" b="1">
                <a:solidFill>
                  <a:srgbClr val="FF904D"/>
                </a:solidFill>
                <a:latin typeface="Tahoma"/>
                <a:cs typeface="Tahoma"/>
              </a:rPr>
              <a:t>Administration</a:t>
            </a:r>
            <a:r>
              <a:rPr dirty="0" sz="4000" spc="-19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00" b="1">
                <a:solidFill>
                  <a:srgbClr val="FF904D"/>
                </a:solidFill>
                <a:latin typeface="Tahoma"/>
                <a:cs typeface="Tahoma"/>
              </a:rPr>
              <a:t>Spend</a:t>
            </a:r>
            <a:r>
              <a:rPr dirty="0" sz="4000" spc="-19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10" b="1">
                <a:solidFill>
                  <a:srgbClr val="FF904D"/>
                </a:solidFill>
                <a:latin typeface="Tahoma"/>
                <a:cs typeface="Tahoma"/>
              </a:rPr>
              <a:t>shows</a:t>
            </a:r>
            <a:r>
              <a:rPr dirty="0" sz="4000" spc="-19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85" b="1">
                <a:solidFill>
                  <a:srgbClr val="FF904D"/>
                </a:solidFill>
                <a:latin typeface="Tahoma"/>
                <a:cs typeface="Tahoma"/>
              </a:rPr>
              <a:t>a</a:t>
            </a:r>
            <a:r>
              <a:rPr dirty="0" sz="4000" spc="-27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35" b="1">
                <a:solidFill>
                  <a:srgbClr val="FF904D"/>
                </a:solidFill>
                <a:latin typeface="Tahoma"/>
                <a:cs typeface="Tahoma"/>
              </a:rPr>
              <a:t>weak</a:t>
            </a:r>
            <a:r>
              <a:rPr dirty="0" sz="4000" spc="-19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70" b="1">
                <a:solidFill>
                  <a:srgbClr val="FF904D"/>
                </a:solidFill>
                <a:latin typeface="Tahoma"/>
                <a:cs typeface="Tahoma"/>
              </a:rPr>
              <a:t>relationship with</a:t>
            </a:r>
            <a:r>
              <a:rPr dirty="0" sz="4000" spc="-19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5" b="1">
                <a:solidFill>
                  <a:srgbClr val="FF904D"/>
                </a:solidFill>
                <a:latin typeface="Tahoma"/>
                <a:cs typeface="Tahoma"/>
              </a:rPr>
              <a:t>profit. </a:t>
            </a:r>
            <a:r>
              <a:rPr dirty="0" sz="4000" spc="-254" b="1">
                <a:solidFill>
                  <a:srgbClr val="FF904D"/>
                </a:solidFill>
                <a:latin typeface="Tahoma"/>
                <a:cs typeface="Tahoma"/>
              </a:rPr>
              <a:t>New</a:t>
            </a:r>
            <a:r>
              <a:rPr dirty="0" sz="4000" spc="-434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35" b="1">
                <a:solidFill>
                  <a:srgbClr val="FF904D"/>
                </a:solidFill>
                <a:latin typeface="Tahoma"/>
                <a:cs typeface="Tahoma"/>
              </a:rPr>
              <a:t>York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54" b="1">
                <a:solidFill>
                  <a:srgbClr val="FF904D"/>
                </a:solidFill>
                <a:latin typeface="Tahoma"/>
                <a:cs typeface="Tahoma"/>
              </a:rPr>
              <a:t>contributes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54" b="1">
                <a:solidFill>
                  <a:srgbClr val="FF904D"/>
                </a:solidFill>
                <a:latin typeface="Tahoma"/>
                <a:cs typeface="Tahoma"/>
              </a:rPr>
              <a:t>the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90" b="1">
                <a:solidFill>
                  <a:srgbClr val="FF904D"/>
                </a:solidFill>
                <a:latin typeface="Tahoma"/>
                <a:cs typeface="Tahoma"/>
              </a:rPr>
              <a:t>highest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54" b="1">
                <a:solidFill>
                  <a:srgbClr val="FF904D"/>
                </a:solidFill>
                <a:latin typeface="Tahoma"/>
                <a:cs typeface="Tahoma"/>
              </a:rPr>
              <a:t>total</a:t>
            </a:r>
            <a:r>
              <a:rPr dirty="0" sz="4000" spc="-18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25" b="1">
                <a:solidFill>
                  <a:srgbClr val="FF904D"/>
                </a:solidFill>
                <a:latin typeface="Tahoma"/>
                <a:cs typeface="Tahoma"/>
              </a:rPr>
              <a:t>profit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65" b="1">
                <a:solidFill>
                  <a:srgbClr val="FF904D"/>
                </a:solidFill>
                <a:latin typeface="Tahoma"/>
                <a:cs typeface="Tahoma"/>
              </a:rPr>
              <a:t>among</a:t>
            </a:r>
            <a:r>
              <a:rPr dirty="0" sz="4000" spc="-18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85" b="1">
                <a:solidFill>
                  <a:srgbClr val="FF904D"/>
                </a:solidFill>
                <a:latin typeface="Tahoma"/>
                <a:cs typeface="Tahoma"/>
              </a:rPr>
              <a:t>all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00" b="1">
                <a:solidFill>
                  <a:srgbClr val="FF904D"/>
                </a:solidFill>
                <a:latin typeface="Tahoma"/>
                <a:cs typeface="Tahoma"/>
              </a:rPr>
              <a:t>states. </a:t>
            </a:r>
            <a:r>
              <a:rPr dirty="0" sz="4000" spc="-215" b="1">
                <a:solidFill>
                  <a:srgbClr val="FF904D"/>
                </a:solidFill>
                <a:latin typeface="Tahoma"/>
                <a:cs typeface="Tahoma"/>
              </a:rPr>
              <a:t>Profit</a:t>
            </a:r>
            <a:r>
              <a:rPr dirty="0" sz="4000" spc="-19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20" b="1">
                <a:solidFill>
                  <a:srgbClr val="FF904D"/>
                </a:solidFill>
                <a:latin typeface="Tahoma"/>
                <a:cs typeface="Tahoma"/>
              </a:rPr>
              <a:t>changes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85" b="1">
                <a:solidFill>
                  <a:srgbClr val="FF904D"/>
                </a:solidFill>
                <a:latin typeface="Tahoma"/>
                <a:cs typeface="Tahoma"/>
              </a:rPr>
              <a:t>dynamically</a:t>
            </a:r>
            <a:r>
              <a:rPr dirty="0" sz="4000" spc="-29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10" b="1">
                <a:solidFill>
                  <a:srgbClr val="FF904D"/>
                </a:solidFill>
                <a:latin typeface="Tahoma"/>
                <a:cs typeface="Tahoma"/>
              </a:rPr>
              <a:t>using</a:t>
            </a:r>
            <a:r>
              <a:rPr dirty="0" sz="4000" spc="-18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54" b="1">
                <a:solidFill>
                  <a:srgbClr val="FF904D"/>
                </a:solidFill>
                <a:latin typeface="Tahoma"/>
                <a:cs typeface="Tahoma"/>
              </a:rPr>
              <a:t>the</a:t>
            </a:r>
            <a:r>
              <a:rPr dirty="0" sz="4000" spc="-195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305" b="1">
                <a:solidFill>
                  <a:srgbClr val="FF904D"/>
                </a:solidFill>
                <a:latin typeface="Tahoma"/>
                <a:cs typeface="Tahoma"/>
              </a:rPr>
              <a:t>State</a:t>
            </a:r>
            <a:r>
              <a:rPr dirty="0" sz="4000" spc="-190" b="1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4000" spc="-295" b="1">
                <a:solidFill>
                  <a:srgbClr val="FF904D"/>
                </a:solidFill>
                <a:latin typeface="Tahoma"/>
                <a:cs typeface="Tahoma"/>
              </a:rPr>
              <a:t>slicer.</a:t>
            </a:r>
            <a:endParaRPr sz="4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49" y="4430572"/>
            <a:ext cx="161925" cy="1619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49" y="5487847"/>
            <a:ext cx="161925" cy="1619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49" y="6545122"/>
            <a:ext cx="161925" cy="1619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49" y="7602397"/>
            <a:ext cx="161925" cy="1619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2399" y="3279558"/>
            <a:ext cx="6232516" cy="445890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2858111"/>
            <a:ext cx="6172199" cy="52006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28700" y="1809750"/>
            <a:ext cx="8523605" cy="76200"/>
          </a:xfrm>
          <a:custGeom>
            <a:avLst/>
            <a:gdLst/>
            <a:ahLst/>
            <a:cxnLst/>
            <a:rect l="l" t="t" r="r" b="b"/>
            <a:pathLst>
              <a:path w="8523605" h="76200">
                <a:moveTo>
                  <a:pt x="8523088" y="76199"/>
                </a:moveTo>
                <a:lnTo>
                  <a:pt x="0" y="76199"/>
                </a:lnTo>
                <a:lnTo>
                  <a:pt x="0" y="0"/>
                </a:lnTo>
                <a:lnTo>
                  <a:pt x="8523088" y="0"/>
                </a:lnTo>
                <a:lnTo>
                  <a:pt x="8523088" y="76199"/>
                </a:lnTo>
                <a:close/>
              </a:path>
            </a:pathLst>
          </a:custGeom>
          <a:solidFill>
            <a:srgbClr val="FF9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567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85"/>
              <a:t>REGRESSION</a:t>
            </a:r>
            <a:r>
              <a:rPr dirty="0" spc="-505"/>
              <a:t> </a:t>
            </a:r>
            <a:r>
              <a:rPr dirty="0" spc="-365"/>
              <a:t>ANA</a:t>
            </a:r>
            <a:r>
              <a:rPr dirty="0" spc="-1000"/>
              <a:t>L</a:t>
            </a:r>
            <a:r>
              <a:rPr dirty="0" spc="-535"/>
              <a:t>Y</a:t>
            </a:r>
            <a:r>
              <a:rPr dirty="0" spc="-365"/>
              <a:t>SIS: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89626" y="4198667"/>
            <a:ext cx="85725" cy="857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108651" y="4055856"/>
            <a:ext cx="2816225" cy="2435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70">
                <a:solidFill>
                  <a:srgbClr val="FF904D"/>
                </a:solidFill>
                <a:latin typeface="Tahoma"/>
                <a:cs typeface="Tahoma"/>
              </a:rPr>
              <a:t>Target</a:t>
            </a:r>
            <a:r>
              <a:rPr dirty="0" sz="2000" spc="-15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40">
                <a:solidFill>
                  <a:srgbClr val="FF904D"/>
                </a:solidFill>
                <a:latin typeface="Tahoma"/>
                <a:cs typeface="Tahoma"/>
              </a:rPr>
              <a:t>Variable:</a:t>
            </a:r>
            <a:r>
              <a:rPr dirty="0" sz="2000" spc="-7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Profit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dirty="0" sz="2000" spc="-20">
                <a:solidFill>
                  <a:srgbClr val="FF904D"/>
                </a:solidFill>
                <a:latin typeface="Tahoma"/>
                <a:cs typeface="Tahoma"/>
              </a:rPr>
              <a:t>Features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FF904D"/>
                </a:solidFill>
                <a:latin typeface="Tahoma"/>
                <a:cs typeface="Tahoma"/>
              </a:rPr>
              <a:t>Used:</a:t>
            </a:r>
            <a:endParaRPr sz="2000">
              <a:latin typeface="Tahoma"/>
              <a:cs typeface="Tahoma"/>
            </a:endParaRPr>
          </a:p>
          <a:p>
            <a:pPr marL="306705" indent="-271145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306705" algn="l"/>
              </a:tabLst>
            </a:pPr>
            <a:r>
              <a:rPr dirty="0" sz="2000" spc="70">
                <a:solidFill>
                  <a:srgbClr val="FF904D"/>
                </a:solidFill>
                <a:latin typeface="Tahoma"/>
                <a:cs typeface="Tahoma"/>
              </a:rPr>
              <a:t>R&amp;D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Spend</a:t>
            </a:r>
            <a:endParaRPr sz="2000">
              <a:latin typeface="Tahoma"/>
              <a:cs typeface="Tahoma"/>
            </a:endParaRPr>
          </a:p>
          <a:p>
            <a:pPr marL="306705" indent="-271145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306705" algn="l"/>
              </a:tabLst>
            </a:pP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Marketing</a:t>
            </a:r>
            <a:r>
              <a:rPr dirty="0" sz="2000" spc="-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FF904D"/>
                </a:solidFill>
                <a:latin typeface="Tahoma"/>
                <a:cs typeface="Tahoma"/>
              </a:rPr>
              <a:t>Spend</a:t>
            </a:r>
            <a:endParaRPr sz="2000">
              <a:latin typeface="Tahoma"/>
              <a:cs typeface="Tahoma"/>
            </a:endParaRPr>
          </a:p>
          <a:p>
            <a:pPr marL="298450" indent="-262890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298450" algn="l"/>
              </a:tabLst>
            </a:pP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Administration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Model:</a:t>
            </a:r>
            <a:r>
              <a:rPr dirty="0" sz="2000" spc="-6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Linear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Regression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89626" y="4722542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89626" y="6303692"/>
            <a:ext cx="85725" cy="857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008829" y="8225560"/>
            <a:ext cx="22593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90" i="1">
                <a:solidFill>
                  <a:srgbClr val="FF904D"/>
                </a:solidFill>
                <a:latin typeface="Trebuchet MS"/>
                <a:cs typeface="Trebuchet MS"/>
              </a:rPr>
              <a:t>Workflow</a:t>
            </a:r>
            <a:r>
              <a:rPr dirty="0" sz="2000" spc="-110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65" i="1">
                <a:solidFill>
                  <a:srgbClr val="FF904D"/>
                </a:solidFill>
                <a:latin typeface="Trebuchet MS"/>
                <a:cs typeface="Trebuchet MS"/>
              </a:rPr>
              <a:t>Screenshot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50668" y="8225560"/>
            <a:ext cx="192341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80" i="1">
                <a:solidFill>
                  <a:srgbClr val="FF904D"/>
                </a:solidFill>
                <a:latin typeface="Trebuchet MS"/>
                <a:cs typeface="Trebuchet MS"/>
              </a:rPr>
              <a:t>Details</a:t>
            </a:r>
            <a:r>
              <a:rPr dirty="0" sz="2000" spc="-110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120" i="1">
                <a:solidFill>
                  <a:srgbClr val="FF904D"/>
                </a:solidFill>
                <a:latin typeface="Trebuchet MS"/>
                <a:cs typeface="Trebuchet MS"/>
              </a:rPr>
              <a:t>of</a:t>
            </a:r>
            <a:r>
              <a:rPr dirty="0" sz="2000" spc="-125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35" i="1">
                <a:solidFill>
                  <a:srgbClr val="FF904D"/>
                </a:solidFill>
                <a:latin typeface="Trebuchet MS"/>
                <a:cs typeface="Trebuchet MS"/>
              </a:rPr>
              <a:t>Dataset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3070733"/>
            <a:ext cx="11172823" cy="36766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28700" y="1809750"/>
            <a:ext cx="8523605" cy="76200"/>
          </a:xfrm>
          <a:custGeom>
            <a:avLst/>
            <a:gdLst/>
            <a:ahLst/>
            <a:cxnLst/>
            <a:rect l="l" t="t" r="r" b="b"/>
            <a:pathLst>
              <a:path w="8523605" h="76200">
                <a:moveTo>
                  <a:pt x="8523088" y="76199"/>
                </a:moveTo>
                <a:lnTo>
                  <a:pt x="0" y="76199"/>
                </a:lnTo>
                <a:lnTo>
                  <a:pt x="0" y="0"/>
                </a:lnTo>
                <a:lnTo>
                  <a:pt x="8523088" y="0"/>
                </a:lnTo>
                <a:lnTo>
                  <a:pt x="8523088" y="76199"/>
                </a:lnTo>
                <a:close/>
              </a:path>
            </a:pathLst>
          </a:custGeom>
          <a:solidFill>
            <a:srgbClr val="FF9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567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85"/>
              <a:t>REGRESSION</a:t>
            </a:r>
            <a:r>
              <a:rPr dirty="0" spc="-505"/>
              <a:t> </a:t>
            </a:r>
            <a:r>
              <a:rPr dirty="0" spc="-365"/>
              <a:t>ANA</a:t>
            </a:r>
            <a:r>
              <a:rPr dirty="0" spc="-1000"/>
              <a:t>L</a:t>
            </a:r>
            <a:r>
              <a:rPr dirty="0" spc="-535"/>
              <a:t>Y</a:t>
            </a:r>
            <a:r>
              <a:rPr dirty="0" spc="-365"/>
              <a:t>SIS: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7262" y="4431045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7262" y="4783470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7262" y="5135895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7262" y="5488320"/>
            <a:ext cx="85725" cy="85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784537" y="3764358"/>
            <a:ext cx="3185795" cy="1911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904D"/>
                </a:solidFill>
                <a:latin typeface="Tahoma"/>
                <a:cs typeface="Tahoma"/>
              </a:rPr>
              <a:t>EVALUATION:</a:t>
            </a:r>
            <a:endParaRPr sz="2000">
              <a:latin typeface="Tahoma"/>
              <a:cs typeface="Tahoma"/>
            </a:endParaRPr>
          </a:p>
          <a:p>
            <a:pPr marL="443865">
              <a:lnSpc>
                <a:spcPct val="100000"/>
              </a:lnSpc>
              <a:spcBef>
                <a:spcPts val="1725"/>
              </a:spcBef>
            </a:pP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Cross</a:t>
            </a:r>
            <a:r>
              <a:rPr dirty="0" sz="2000" spc="-1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Validation</a:t>
            </a:r>
            <a:r>
              <a:rPr dirty="0" sz="2000" spc="-10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(5</a:t>
            </a:r>
            <a:r>
              <a:rPr dirty="0" sz="2000" spc="-10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folds)</a:t>
            </a:r>
            <a:endParaRPr sz="2000">
              <a:latin typeface="Tahoma"/>
              <a:cs typeface="Tahoma"/>
            </a:endParaRP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dirty="0" sz="2000" spc="-165">
                <a:solidFill>
                  <a:srgbClr val="FF904D"/>
                </a:solidFill>
                <a:latin typeface="Tahoma"/>
                <a:cs typeface="Tahoma"/>
              </a:rPr>
              <a:t>R²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90">
                <a:solidFill>
                  <a:srgbClr val="FF904D"/>
                </a:solidFill>
                <a:latin typeface="Tahoma"/>
                <a:cs typeface="Tahoma"/>
              </a:rPr>
              <a:t>=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0.943</a:t>
            </a:r>
            <a:endParaRPr sz="2000">
              <a:latin typeface="Tahoma"/>
              <a:cs typeface="Tahoma"/>
            </a:endParaRP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dirty="0" sz="2000" spc="70">
                <a:solidFill>
                  <a:srgbClr val="FF904D"/>
                </a:solidFill>
                <a:latin typeface="Tahoma"/>
                <a:cs typeface="Tahoma"/>
              </a:rPr>
              <a:t>RMSE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90">
                <a:solidFill>
                  <a:srgbClr val="FF904D"/>
                </a:solidFill>
                <a:latin typeface="Tahoma"/>
                <a:cs typeface="Tahoma"/>
              </a:rPr>
              <a:t>≈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40">
                <a:solidFill>
                  <a:srgbClr val="FF904D"/>
                </a:solidFill>
                <a:latin typeface="Tahoma"/>
                <a:cs typeface="Tahoma"/>
              </a:rPr>
              <a:t>9538</a:t>
            </a:r>
            <a:endParaRPr sz="2000">
              <a:latin typeface="Tahoma"/>
              <a:cs typeface="Tahoma"/>
            </a:endParaRP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dirty="0" sz="2000" spc="135">
                <a:solidFill>
                  <a:srgbClr val="FF904D"/>
                </a:solidFill>
                <a:latin typeface="Tahoma"/>
                <a:cs typeface="Tahoma"/>
              </a:rPr>
              <a:t>MAPE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90">
                <a:solidFill>
                  <a:srgbClr val="FF904D"/>
                </a:solidFill>
                <a:latin typeface="Tahoma"/>
                <a:cs typeface="Tahoma"/>
              </a:rPr>
              <a:t>≈</a:t>
            </a:r>
            <a:r>
              <a:rPr dirty="0" sz="2000" spc="-10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11.45%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6882955"/>
            <a:ext cx="10053320" cy="1882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00220">
              <a:lnSpc>
                <a:spcPct val="100000"/>
              </a:lnSpc>
              <a:spcBef>
                <a:spcPts val="100"/>
              </a:spcBef>
            </a:pPr>
            <a:r>
              <a:rPr dirty="0" sz="2000" spc="-150" i="1">
                <a:solidFill>
                  <a:srgbClr val="FF904D"/>
                </a:solidFill>
                <a:latin typeface="Trebuchet MS"/>
                <a:cs typeface="Trebuchet MS"/>
              </a:rPr>
              <a:t>Test</a:t>
            </a:r>
            <a:r>
              <a:rPr dirty="0" sz="2000" spc="-114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105" i="1">
                <a:solidFill>
                  <a:srgbClr val="FF904D"/>
                </a:solidFill>
                <a:latin typeface="Trebuchet MS"/>
                <a:cs typeface="Trebuchet MS"/>
              </a:rPr>
              <a:t>&amp;</a:t>
            </a:r>
            <a:r>
              <a:rPr dirty="0" sz="2000" spc="-114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80" i="1">
                <a:solidFill>
                  <a:srgbClr val="FF904D"/>
                </a:solidFill>
                <a:latin typeface="Trebuchet MS"/>
                <a:cs typeface="Trebuchet MS"/>
              </a:rPr>
              <a:t>Score</a:t>
            </a:r>
            <a:r>
              <a:rPr dirty="0" sz="2000" spc="-114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FF904D"/>
                </a:solidFill>
                <a:latin typeface="Trebuchet MS"/>
                <a:cs typeface="Trebuchet MS"/>
              </a:rPr>
              <a:t>screenshot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000" spc="-65" b="1">
                <a:solidFill>
                  <a:srgbClr val="FF904D"/>
                </a:solidFill>
                <a:latin typeface="Tahoma"/>
                <a:cs typeface="Tahoma"/>
              </a:rPr>
              <a:t>INTERPRETATION: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5599"/>
              </a:lnSpc>
              <a:spcBef>
                <a:spcPts val="1350"/>
              </a:spcBef>
            </a:pP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The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model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explains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FF904D"/>
                </a:solidFill>
                <a:latin typeface="Tahoma"/>
                <a:cs typeface="Tahoma"/>
              </a:rPr>
              <a:t>approximately</a:t>
            </a:r>
            <a:r>
              <a:rPr dirty="0" sz="2000" spc="-14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FF904D"/>
                </a:solidFill>
                <a:latin typeface="Tahoma"/>
                <a:cs typeface="Tahoma"/>
              </a:rPr>
              <a:t>94.3%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of</a:t>
            </a:r>
            <a:r>
              <a:rPr dirty="0" sz="2000" spc="-13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the</a:t>
            </a:r>
            <a:r>
              <a:rPr dirty="0" sz="2000" spc="-14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FF904D"/>
                </a:solidFill>
                <a:latin typeface="Tahoma"/>
                <a:cs typeface="Tahoma"/>
              </a:rPr>
              <a:t>variance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in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startup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profit,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indicating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strong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predictive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performance.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445215"/>
            <a:ext cx="8515349" cy="22764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58620" y="2418599"/>
            <a:ext cx="7296149" cy="23050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28700" y="1809750"/>
            <a:ext cx="8090534" cy="76200"/>
          </a:xfrm>
          <a:custGeom>
            <a:avLst/>
            <a:gdLst/>
            <a:ahLst/>
            <a:cxnLst/>
            <a:rect l="l" t="t" r="r" b="b"/>
            <a:pathLst>
              <a:path w="8090534" h="76200">
                <a:moveTo>
                  <a:pt x="8090147" y="76199"/>
                </a:moveTo>
                <a:lnTo>
                  <a:pt x="0" y="76199"/>
                </a:lnTo>
                <a:lnTo>
                  <a:pt x="0" y="0"/>
                </a:lnTo>
                <a:lnTo>
                  <a:pt x="8090147" y="0"/>
                </a:lnTo>
                <a:lnTo>
                  <a:pt x="8090147" y="76199"/>
                </a:lnTo>
                <a:close/>
              </a:path>
            </a:pathLst>
          </a:custGeom>
          <a:solidFill>
            <a:srgbClr val="FF9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567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30"/>
              <a:t>PREDICTION</a:t>
            </a:r>
            <a:r>
              <a:rPr dirty="0" spc="-295"/>
              <a:t> </a:t>
            </a:r>
            <a:r>
              <a:rPr dirty="0" spc="-365"/>
              <a:t>RESU</a:t>
            </a:r>
            <a:r>
              <a:rPr dirty="0" spc="-965"/>
              <a:t>L</a:t>
            </a:r>
            <a:r>
              <a:rPr dirty="0" spc="-380"/>
              <a:t>T</a:t>
            </a:r>
            <a:r>
              <a:rPr dirty="0" spc="-365"/>
              <a:t>S: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8724" y="5929141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8724" y="6453016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8724" y="7510291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8724" y="8739016"/>
            <a:ext cx="85725" cy="857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16000" y="4723814"/>
            <a:ext cx="16812895" cy="4555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8079">
              <a:lnSpc>
                <a:spcPct val="100000"/>
              </a:lnSpc>
              <a:spcBef>
                <a:spcPts val="100"/>
              </a:spcBef>
              <a:tabLst>
                <a:tab pos="10229850" algn="l"/>
              </a:tabLst>
            </a:pPr>
            <a:r>
              <a:rPr dirty="0" sz="2000" spc="-75" i="1">
                <a:solidFill>
                  <a:srgbClr val="FF904D"/>
                </a:solidFill>
                <a:latin typeface="Trebuchet MS"/>
                <a:cs typeface="Trebuchet MS"/>
              </a:rPr>
              <a:t>Input</a:t>
            </a:r>
            <a:r>
              <a:rPr dirty="0" sz="2000" spc="-165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20" i="1">
                <a:solidFill>
                  <a:srgbClr val="FF904D"/>
                </a:solidFill>
                <a:latin typeface="Trebuchet MS"/>
                <a:cs typeface="Trebuchet MS"/>
              </a:rPr>
              <a:t>Table</a:t>
            </a:r>
            <a:r>
              <a:rPr dirty="0" sz="2000" i="1">
                <a:solidFill>
                  <a:srgbClr val="FF904D"/>
                </a:solidFill>
                <a:latin typeface="Trebuchet MS"/>
                <a:cs typeface="Trebuchet MS"/>
              </a:rPr>
              <a:t>	</a:t>
            </a:r>
            <a:r>
              <a:rPr dirty="0" sz="2000" spc="-125" i="1">
                <a:solidFill>
                  <a:srgbClr val="FF904D"/>
                </a:solidFill>
                <a:latin typeface="Trebuchet MS"/>
                <a:cs typeface="Trebuchet MS"/>
              </a:rPr>
              <a:t>Profit</a:t>
            </a:r>
            <a:r>
              <a:rPr dirty="0" sz="2000" spc="-100" i="1">
                <a:solidFill>
                  <a:srgbClr val="FF904D"/>
                </a:solidFill>
                <a:latin typeface="Trebuchet MS"/>
                <a:cs typeface="Trebuchet MS"/>
              </a:rPr>
              <a:t> Prediction</a:t>
            </a:r>
            <a:r>
              <a:rPr dirty="0" sz="2000" spc="-95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140" i="1">
                <a:solidFill>
                  <a:srgbClr val="FF904D"/>
                </a:solidFill>
                <a:latin typeface="Trebuchet MS"/>
                <a:cs typeface="Trebuchet MS"/>
              </a:rPr>
              <a:t>for </a:t>
            </a:r>
            <a:r>
              <a:rPr dirty="0" sz="2000" spc="-75" i="1">
                <a:solidFill>
                  <a:srgbClr val="FF904D"/>
                </a:solidFill>
                <a:latin typeface="Trebuchet MS"/>
                <a:cs typeface="Trebuchet MS"/>
              </a:rPr>
              <a:t>Input</a:t>
            </a:r>
            <a:r>
              <a:rPr dirty="0" sz="2000" spc="-160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150" i="1">
                <a:solidFill>
                  <a:srgbClr val="FF904D"/>
                </a:solidFill>
                <a:latin typeface="Trebuchet MS"/>
                <a:cs typeface="Trebuchet MS"/>
              </a:rPr>
              <a:t>Table</a:t>
            </a:r>
            <a:r>
              <a:rPr dirty="0" sz="2000" spc="-95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70" i="1">
                <a:solidFill>
                  <a:srgbClr val="FF904D"/>
                </a:solidFill>
                <a:latin typeface="Trebuchet MS"/>
                <a:cs typeface="Trebuchet MS"/>
              </a:rPr>
              <a:t>using</a:t>
            </a:r>
            <a:r>
              <a:rPr dirty="0" sz="2000" spc="-100" i="1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FF904D"/>
                </a:solidFill>
                <a:latin typeface="Trebuchet MS"/>
                <a:cs typeface="Trebuchet MS"/>
              </a:rPr>
              <a:t>Orange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dirty="0" u="heavy" sz="2000" spc="-65" b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ahoma"/>
                <a:cs typeface="Tahoma"/>
              </a:rPr>
              <a:t>KEY</a:t>
            </a:r>
            <a:r>
              <a:rPr dirty="0" u="heavy" sz="2000" spc="-170" b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000" spc="-40" b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ahoma"/>
                <a:cs typeface="Tahoma"/>
              </a:rPr>
              <a:t>OBSERVATIONS:</a:t>
            </a:r>
            <a:endParaRPr sz="2000">
              <a:latin typeface="Tahoma"/>
              <a:cs typeface="Tahoma"/>
            </a:endParaRPr>
          </a:p>
          <a:p>
            <a:pPr marL="443865" marR="1220470">
              <a:lnSpc>
                <a:spcPct val="171900"/>
              </a:lnSpc>
            </a:pP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Successfully</a:t>
            </a:r>
            <a:r>
              <a:rPr dirty="0" sz="2000" spc="-14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predicted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profit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for</a:t>
            </a:r>
            <a:r>
              <a:rPr dirty="0" sz="2000" spc="-13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the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two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startup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investment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combinations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provided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in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the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FF904D"/>
                </a:solidFill>
                <a:latin typeface="Tahoma"/>
                <a:cs typeface="Tahoma"/>
              </a:rPr>
              <a:t>assignment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FF904D"/>
                </a:solidFill>
                <a:latin typeface="Tahoma"/>
                <a:cs typeface="Tahoma"/>
              </a:rPr>
              <a:t>using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the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Linear</a:t>
            </a:r>
            <a:r>
              <a:rPr dirty="0" sz="2000" spc="-13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FF904D"/>
                </a:solidFill>
                <a:latin typeface="Tahoma"/>
                <a:cs typeface="Tahoma"/>
              </a:rPr>
              <a:t>Regression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model.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Prediction</a:t>
            </a:r>
            <a:r>
              <a:rPr dirty="0" sz="2000" spc="3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FF904D"/>
                </a:solidFill>
                <a:latin typeface="Tahoma"/>
                <a:cs typeface="Tahoma"/>
              </a:rPr>
              <a:t>1:</a:t>
            </a:r>
            <a:endParaRPr sz="2000">
              <a:latin typeface="Tahoma"/>
              <a:cs typeface="Tahoma"/>
            </a:endParaRPr>
          </a:p>
          <a:p>
            <a:pPr marL="792480">
              <a:lnSpc>
                <a:spcPct val="100000"/>
              </a:lnSpc>
              <a:spcBef>
                <a:spcPts val="375"/>
              </a:spcBef>
            </a:pPr>
            <a:r>
              <a:rPr dirty="0" sz="2000" spc="70">
                <a:solidFill>
                  <a:srgbClr val="FF904D"/>
                </a:solidFill>
                <a:latin typeface="Tahoma"/>
                <a:cs typeface="Tahoma"/>
              </a:rPr>
              <a:t>R&amp;D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90">
                <a:solidFill>
                  <a:srgbClr val="FF904D"/>
                </a:solidFill>
                <a:latin typeface="Tahoma"/>
                <a:cs typeface="Tahoma"/>
              </a:rPr>
              <a:t>=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21,892.92,</a:t>
            </a:r>
            <a:r>
              <a:rPr dirty="0" sz="2000" spc="-15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Administration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90">
                <a:solidFill>
                  <a:srgbClr val="FF904D"/>
                </a:solidFill>
                <a:latin typeface="Tahoma"/>
                <a:cs typeface="Tahoma"/>
              </a:rPr>
              <a:t>=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81,910.77,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Marketing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90">
                <a:solidFill>
                  <a:srgbClr val="FF904D"/>
                </a:solidFill>
                <a:latin typeface="Tahoma"/>
                <a:cs typeface="Tahoma"/>
              </a:rPr>
              <a:t>=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164,270.70</a:t>
            </a:r>
            <a:endParaRPr sz="2000">
              <a:latin typeface="Tahoma"/>
              <a:cs typeface="Tahoma"/>
            </a:endParaRPr>
          </a:p>
          <a:p>
            <a:pPr marL="792480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Predicted</a:t>
            </a:r>
            <a:r>
              <a:rPr dirty="0" sz="2000" spc="-6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Profit:</a:t>
            </a:r>
            <a:r>
              <a:rPr dirty="0" sz="2000" spc="-6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70,037.90</a:t>
            </a:r>
            <a:endParaRPr sz="2000">
              <a:latin typeface="Tahoma"/>
              <a:cs typeface="Tahoma"/>
            </a:endParaRP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Prediction</a:t>
            </a:r>
            <a:r>
              <a:rPr dirty="0" sz="2000" spc="3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FF904D"/>
                </a:solidFill>
                <a:latin typeface="Tahoma"/>
                <a:cs typeface="Tahoma"/>
              </a:rPr>
              <a:t>2:</a:t>
            </a:r>
            <a:endParaRPr sz="2000">
              <a:latin typeface="Tahoma"/>
              <a:cs typeface="Tahoma"/>
            </a:endParaRPr>
          </a:p>
          <a:p>
            <a:pPr marL="792480">
              <a:lnSpc>
                <a:spcPct val="100000"/>
              </a:lnSpc>
              <a:spcBef>
                <a:spcPts val="375"/>
              </a:spcBef>
            </a:pPr>
            <a:r>
              <a:rPr dirty="0" sz="2000" spc="70">
                <a:solidFill>
                  <a:srgbClr val="FF904D"/>
                </a:solidFill>
                <a:latin typeface="Tahoma"/>
                <a:cs typeface="Tahoma"/>
              </a:rPr>
              <a:t>R&amp;D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90">
                <a:solidFill>
                  <a:srgbClr val="FF904D"/>
                </a:solidFill>
                <a:latin typeface="Tahoma"/>
                <a:cs typeface="Tahoma"/>
              </a:rPr>
              <a:t>=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23,940.93,</a:t>
            </a:r>
            <a:r>
              <a:rPr dirty="0" sz="2000" spc="-15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Administration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90">
                <a:solidFill>
                  <a:srgbClr val="FF904D"/>
                </a:solidFill>
                <a:latin typeface="Tahoma"/>
                <a:cs typeface="Tahoma"/>
              </a:rPr>
              <a:t>=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96,489.63,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Marketing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90">
                <a:solidFill>
                  <a:srgbClr val="FF904D"/>
                </a:solidFill>
                <a:latin typeface="Tahoma"/>
                <a:cs typeface="Tahoma"/>
              </a:rPr>
              <a:t>=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137,001.10</a:t>
            </a:r>
            <a:endParaRPr sz="2000">
              <a:latin typeface="Tahoma"/>
              <a:cs typeface="Tahoma"/>
            </a:endParaRPr>
          </a:p>
          <a:p>
            <a:pPr marL="792480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Predicted</a:t>
            </a:r>
            <a:r>
              <a:rPr dirty="0" sz="2000" spc="-6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Profit:</a:t>
            </a:r>
            <a:r>
              <a:rPr dirty="0" sz="2000" spc="-6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70,554.57</a:t>
            </a:r>
            <a:endParaRPr sz="2000">
              <a:latin typeface="Tahoma"/>
              <a:cs typeface="Tahoma"/>
            </a:endParaRPr>
          </a:p>
          <a:p>
            <a:pPr marL="443865" marR="5080">
              <a:lnSpc>
                <a:spcPct val="115599"/>
              </a:lnSpc>
              <a:spcBef>
                <a:spcPts val="1350"/>
              </a:spcBef>
            </a:pP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The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model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achieved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FF904D"/>
                </a:solidFill>
                <a:latin typeface="Tahoma"/>
                <a:cs typeface="Tahoma"/>
              </a:rPr>
              <a:t>an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65">
                <a:solidFill>
                  <a:srgbClr val="FF904D"/>
                </a:solidFill>
                <a:latin typeface="Tahoma"/>
                <a:cs typeface="Tahoma"/>
              </a:rPr>
              <a:t>R²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score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of</a:t>
            </a:r>
            <a:r>
              <a:rPr dirty="0" sz="2000" spc="-13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0.943,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indicating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high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predictive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accuracy</a:t>
            </a:r>
            <a:r>
              <a:rPr dirty="0" sz="2000" spc="-14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FF904D"/>
                </a:solidFill>
                <a:latin typeface="Tahoma"/>
                <a:cs typeface="Tahoma"/>
              </a:rPr>
              <a:t>and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FF904D"/>
                </a:solidFill>
                <a:latin typeface="Tahoma"/>
                <a:cs typeface="Tahoma"/>
              </a:rPr>
              <a:t>making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it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suitable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55">
                <a:solidFill>
                  <a:srgbClr val="FF904D"/>
                </a:solidFill>
                <a:latin typeface="Tahoma"/>
                <a:cs typeface="Tahoma"/>
              </a:rPr>
              <a:t>as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FF904D"/>
                </a:solidFill>
                <a:latin typeface="Tahoma"/>
                <a:cs typeface="Tahoma"/>
              </a:rPr>
              <a:t>a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decision-support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tool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for</a:t>
            </a:r>
            <a:r>
              <a:rPr dirty="0" sz="2000" spc="-13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FF904D"/>
                </a:solidFill>
                <a:latin typeface="Tahoma"/>
                <a:cs typeface="Tahoma"/>
              </a:rPr>
              <a:t>estimating</a:t>
            </a:r>
            <a:r>
              <a:rPr dirty="0" sz="2000" spc="-8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startup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profit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FF904D"/>
                </a:solidFill>
                <a:latin typeface="Tahoma"/>
                <a:cs typeface="Tahoma"/>
              </a:rPr>
              <a:t>based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on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investment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patterns.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1809750"/>
            <a:ext cx="13942060" cy="76200"/>
          </a:xfrm>
          <a:custGeom>
            <a:avLst/>
            <a:gdLst/>
            <a:ahLst/>
            <a:cxnLst/>
            <a:rect l="l" t="t" r="r" b="b"/>
            <a:pathLst>
              <a:path w="13942060" h="76200">
                <a:moveTo>
                  <a:pt x="13941622" y="76199"/>
                </a:moveTo>
                <a:lnTo>
                  <a:pt x="0" y="76199"/>
                </a:lnTo>
                <a:lnTo>
                  <a:pt x="0" y="0"/>
                </a:lnTo>
                <a:lnTo>
                  <a:pt x="13941622" y="0"/>
                </a:lnTo>
                <a:lnTo>
                  <a:pt x="13941622" y="76199"/>
                </a:lnTo>
                <a:close/>
              </a:path>
            </a:pathLst>
          </a:custGeom>
          <a:solidFill>
            <a:srgbClr val="FF9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567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CONCLUSION</a:t>
            </a:r>
            <a:r>
              <a:rPr dirty="0" spc="-265"/>
              <a:t> </a:t>
            </a:r>
            <a:r>
              <a:rPr dirty="0" spc="-375"/>
              <a:t>&amp;</a:t>
            </a:r>
            <a:r>
              <a:rPr dirty="0" spc="-260"/>
              <a:t> </a:t>
            </a:r>
            <a:r>
              <a:rPr dirty="0" spc="-170"/>
              <a:t>RECOMMENDATIONS: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724" y="3655448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724" y="4007873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724" y="4360298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724" y="4712723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724" y="5065148"/>
            <a:ext cx="85725" cy="85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16148" y="3010244"/>
            <a:ext cx="6658609" cy="2242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000" spc="-10" b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ahoma"/>
                <a:cs typeface="Tahoma"/>
              </a:rPr>
              <a:t>CONCLUSION:</a:t>
            </a:r>
            <a:endParaRPr sz="2000">
              <a:latin typeface="Tahoma"/>
              <a:cs typeface="Tahoma"/>
            </a:endParaRPr>
          </a:p>
          <a:p>
            <a:pPr marL="443865" marR="5080">
              <a:lnSpc>
                <a:spcPct val="115599"/>
              </a:lnSpc>
              <a:spcBef>
                <a:spcPts val="1180"/>
              </a:spcBef>
            </a:pPr>
            <a:r>
              <a:rPr dirty="0" sz="2000" spc="70">
                <a:solidFill>
                  <a:srgbClr val="FF904D"/>
                </a:solidFill>
                <a:latin typeface="Tahoma"/>
                <a:cs typeface="Tahoma"/>
              </a:rPr>
              <a:t>R&amp;D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investment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is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the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strongest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driver</a:t>
            </a:r>
            <a:r>
              <a:rPr dirty="0" sz="2000" spc="-15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of</a:t>
            </a:r>
            <a:r>
              <a:rPr dirty="0" sz="2000" spc="-15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startup</a:t>
            </a:r>
            <a:r>
              <a:rPr dirty="0" sz="2000" spc="-11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profit.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Marketing</a:t>
            </a:r>
            <a:r>
              <a:rPr dirty="0" sz="2000" spc="-8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FF904D"/>
                </a:solidFill>
                <a:latin typeface="Tahoma"/>
                <a:cs typeface="Tahoma"/>
              </a:rPr>
              <a:t>has</a:t>
            </a:r>
            <a:r>
              <a:rPr dirty="0" sz="2000" spc="-7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70">
                <a:solidFill>
                  <a:srgbClr val="FF904D"/>
                </a:solidFill>
                <a:latin typeface="Tahoma"/>
                <a:cs typeface="Tahoma"/>
              </a:rPr>
              <a:t>a</a:t>
            </a:r>
            <a:r>
              <a:rPr dirty="0" sz="2000" spc="-7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noticeable</a:t>
            </a:r>
            <a:r>
              <a:rPr dirty="0" sz="2000" spc="-7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positive</a:t>
            </a:r>
            <a:r>
              <a:rPr dirty="0" sz="2000" spc="-7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impact.</a:t>
            </a:r>
            <a:endParaRPr sz="2000">
              <a:latin typeface="Tahoma"/>
              <a:cs typeface="Tahoma"/>
            </a:endParaRPr>
          </a:p>
          <a:p>
            <a:pPr marL="443865" marR="12700">
              <a:lnSpc>
                <a:spcPct val="115599"/>
              </a:lnSpc>
            </a:pP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Administration</a:t>
            </a:r>
            <a:r>
              <a:rPr dirty="0" sz="2000" spc="-6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spending</a:t>
            </a:r>
            <a:r>
              <a:rPr dirty="0" sz="2000" spc="-6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contributes</a:t>
            </a:r>
            <a:r>
              <a:rPr dirty="0" sz="2000" spc="-6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comparatively</a:t>
            </a:r>
            <a:r>
              <a:rPr dirty="0" sz="2000" spc="-12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less. Linear</a:t>
            </a:r>
            <a:r>
              <a:rPr dirty="0" sz="2000" spc="-14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FF904D"/>
                </a:solidFill>
                <a:latin typeface="Tahoma"/>
                <a:cs typeface="Tahoma"/>
              </a:rPr>
              <a:t>Regression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provides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reliable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profit</a:t>
            </a:r>
            <a:r>
              <a:rPr dirty="0" sz="2000" spc="-9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predictions.</a:t>
            </a:r>
            <a:endParaRPr sz="2000">
              <a:latin typeface="Tahoma"/>
              <a:cs typeface="Tahoma"/>
            </a:endParaRP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Power</a:t>
            </a:r>
            <a:r>
              <a:rPr dirty="0" sz="2000" spc="-14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FF904D"/>
                </a:solidFill>
                <a:latin typeface="Tahoma"/>
                <a:cs typeface="Tahoma"/>
              </a:rPr>
              <a:t>BI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enables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interactive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business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analysis.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724" y="6908200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724" y="7260625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724" y="7613050"/>
            <a:ext cx="85725" cy="857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724" y="7965475"/>
            <a:ext cx="85725" cy="8572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16297" y="6187539"/>
            <a:ext cx="7185659" cy="1965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000" spc="-10" b="1">
                <a:solidFill>
                  <a:srgbClr val="FF904D"/>
                </a:solidFill>
                <a:uFill>
                  <a:solidFill>
                    <a:srgbClr val="FF904D"/>
                  </a:solidFill>
                </a:uFill>
                <a:latin typeface="Tahoma"/>
                <a:cs typeface="Tahoma"/>
              </a:rPr>
              <a:t>RECOMMENDATIONS:</a:t>
            </a:r>
            <a:endParaRPr sz="2000">
              <a:latin typeface="Tahoma"/>
              <a:cs typeface="Tahoma"/>
            </a:endParaRPr>
          </a:p>
          <a:p>
            <a:pPr marL="443865" marR="1099820">
              <a:lnSpc>
                <a:spcPct val="115599"/>
              </a:lnSpc>
              <a:spcBef>
                <a:spcPts val="1775"/>
              </a:spcBef>
            </a:pPr>
            <a:r>
              <a:rPr dirty="0" sz="2000" spc="-45">
                <a:solidFill>
                  <a:srgbClr val="FF904D"/>
                </a:solidFill>
                <a:latin typeface="Tahoma"/>
                <a:cs typeface="Tahoma"/>
              </a:rPr>
              <a:t>Increase</a:t>
            </a:r>
            <a:r>
              <a:rPr dirty="0" sz="2000" spc="-10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investment</a:t>
            </a:r>
            <a:r>
              <a:rPr dirty="0" sz="2000" spc="-10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in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FF904D"/>
                </a:solidFill>
                <a:latin typeface="Tahoma"/>
                <a:cs typeface="Tahoma"/>
              </a:rPr>
              <a:t>R&amp;D</a:t>
            </a:r>
            <a:r>
              <a:rPr dirty="0" sz="2000" spc="-10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for</a:t>
            </a:r>
            <a:r>
              <a:rPr dirty="0" sz="2000" spc="-14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FF904D"/>
                </a:solidFill>
                <a:latin typeface="Tahoma"/>
                <a:cs typeface="Tahoma"/>
              </a:rPr>
              <a:t>higher</a:t>
            </a:r>
            <a:r>
              <a:rPr dirty="0" sz="2000" spc="-14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profitability.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Optimize</a:t>
            </a:r>
            <a:r>
              <a:rPr dirty="0" sz="2000" spc="-25">
                <a:solidFill>
                  <a:srgbClr val="FF904D"/>
                </a:solidFill>
                <a:latin typeface="Tahoma"/>
                <a:cs typeface="Tahoma"/>
              </a:rPr>
              <a:t> marketing</a:t>
            </a:r>
            <a:r>
              <a:rPr dirty="0" sz="2000" spc="-20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budgets.</a:t>
            </a:r>
            <a:endParaRPr sz="2000">
              <a:latin typeface="Tahoma"/>
              <a:cs typeface="Tahoma"/>
            </a:endParaRP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dirty="0" sz="2000" spc="50">
                <a:solidFill>
                  <a:srgbClr val="FF904D"/>
                </a:solidFill>
                <a:latin typeface="Tahoma"/>
                <a:cs typeface="Tahoma"/>
              </a:rPr>
              <a:t>Monitor</a:t>
            </a:r>
            <a:r>
              <a:rPr dirty="0" sz="2000" spc="-14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administrative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expenses.</a:t>
            </a:r>
            <a:endParaRPr sz="2000">
              <a:latin typeface="Tahoma"/>
              <a:cs typeface="Tahoma"/>
            </a:endParaRP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Use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predictive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analytics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before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FF904D"/>
                </a:solidFill>
                <a:latin typeface="Tahoma"/>
                <a:cs typeface="Tahoma"/>
              </a:rPr>
              <a:t>making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904D"/>
                </a:solidFill>
                <a:latin typeface="Tahoma"/>
                <a:cs typeface="Tahoma"/>
              </a:rPr>
              <a:t>investment</a:t>
            </a:r>
            <a:r>
              <a:rPr dirty="0" sz="2000" spc="-95">
                <a:solidFill>
                  <a:srgbClr val="FF904D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904D"/>
                </a:solidFill>
                <a:latin typeface="Tahoma"/>
                <a:cs typeface="Tahoma"/>
              </a:rPr>
              <a:t>decisions.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Piyush</dc:creator>
  <cp:keywords>DAHO8j-xEbo,BAFO2NiasTk</cp:keywords>
  <dc:title>Startup Profit Analysis</dc:title>
  <dcterms:created xsi:type="dcterms:W3CDTF">2026-07-10T10:58:08Z</dcterms:created>
  <dcterms:modified xsi:type="dcterms:W3CDTF">2026-07-10T10:58:08Z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2026-07-10T00:00:00Z</vt:filetime>
  </property>
  <property fmtid="{D5CDD505-2E9C-101B-9397-08002B2CF9AE}" pid="4" name="Creator">
    <vt:lpwstr>Canva</vt:lpwstr>
  </property>
  <property fmtid="{D5CDD505-2E9C-101B-9397-08002B2CF9AE}" pid="5" name="LastSaved">
    <vt:filetime>2026-07-10T00:00:00Z</vt:filetime>
  </property>
  <property fmtid="{D5CDD505-2E9C-101B-9397-08002B2CF9AE}" pid="6" name="Producer">
    <vt:lpwstr>Canva</vt:lpwstr>
  </property>
</Properties>
</file>